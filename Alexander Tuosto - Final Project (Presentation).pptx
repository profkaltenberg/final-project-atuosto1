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embeddedFontLst>
    <p:embeddedFont>
      <p:font typeface="Lato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i+n4ROMhjGcpkTU/dr+51sF2vj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e10adc12ce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e10adc12ce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e10adc12ce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10adc12ce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e10adc12ce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e10adc12ce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10adc12ce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e10adc12ce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e10adc12ce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10adc12ce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e10adc12ce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10adc12ce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10adc12ce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e10adc12ce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10adc12ce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10adc12ce_0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e10adc12ce_0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e10adc12ce_0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10adc12ce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e10adc12ce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10adc12ce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10adc12ce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e10adc12ce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10adc12ce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10adc12ce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e10adc12ce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10adc12ce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10adc12ce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e10adc12ce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10adc12ce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457200"/>
            <a:ext cx="8046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erriweather"/>
              <a:buNone/>
            </a:pPr>
            <a:r>
              <a:rPr b="1" lang="en-US" sz="40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Music Listening Habits During Recessions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3879535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Lato"/>
              <a:buNone/>
            </a:pPr>
            <a:r>
              <a:rPr i="1" lang="en-US" sz="1500">
                <a:solidFill>
                  <a:srgbClr val="CADCFC"/>
                </a:solidFill>
                <a:latin typeface="Lato"/>
                <a:ea typeface="Lato"/>
                <a:cs typeface="Lato"/>
                <a:sym typeface="Lato"/>
              </a:rPr>
              <a:t>Alexander Tuosto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1E2761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Question</a:t>
            </a:r>
            <a:endParaRPr b="0" i="0" sz="28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Merriweather"/>
              <a:buNone/>
            </a:pPr>
            <a:r>
              <a:t/>
            </a:r>
            <a:endParaRPr i="0" sz="2000" u="none" cap="none" strike="noStrike">
              <a:solidFill>
                <a:srgbClr val="1E276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05600" y="1545175"/>
            <a:ext cx="8332800" cy="265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C4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Merriweather"/>
              <a:buNone/>
            </a:pPr>
            <a:r>
              <a:rPr b="1" lang="en-US" sz="3300">
                <a:solidFill>
                  <a:srgbClr val="F8FAFF"/>
                </a:solidFill>
                <a:latin typeface="Merriweather"/>
                <a:ea typeface="Merriweather"/>
                <a:cs typeface="Merriweather"/>
                <a:sym typeface="Merriweather"/>
              </a:rPr>
              <a:t>How do signals of poor economic conditions affect music listening habits across genres?</a:t>
            </a:r>
            <a:endParaRPr sz="2700">
              <a:solidFill>
                <a:srgbClr val="F8FA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10adc12ce_0_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e10adc12ce_0_6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Variables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e10adc12ce_0_6"/>
          <p:cNvSpPr/>
          <p:nvPr/>
        </p:nvSpPr>
        <p:spPr>
          <a:xfrm>
            <a:off x="4831260" y="1568000"/>
            <a:ext cx="1965900" cy="1371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e10adc12ce_0_6"/>
          <p:cNvSpPr/>
          <p:nvPr/>
        </p:nvSpPr>
        <p:spPr>
          <a:xfrm>
            <a:off x="4831260" y="1613720"/>
            <a:ext cx="196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b="1"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Recession Indicator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e10adc12ce_0_6"/>
          <p:cNvSpPr/>
          <p:nvPr/>
        </p:nvSpPr>
        <p:spPr>
          <a:xfrm>
            <a:off x="6952668" y="1568000"/>
            <a:ext cx="1965900" cy="1371600"/>
          </a:xfrm>
          <a:prstGeom prst="rect">
            <a:avLst/>
          </a:prstGeom>
          <a:solidFill>
            <a:srgbClr val="1C4F8C"/>
          </a:solidFill>
          <a:ln cap="flat" cmpd="sng" w="12700">
            <a:solidFill>
              <a:srgbClr val="1C4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e10adc12ce_0_6"/>
          <p:cNvSpPr/>
          <p:nvPr/>
        </p:nvSpPr>
        <p:spPr>
          <a:xfrm>
            <a:off x="6952668" y="1647559"/>
            <a:ext cx="196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b="1"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Unemployment Rate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e10adc12ce_0_6"/>
          <p:cNvSpPr/>
          <p:nvPr/>
        </p:nvSpPr>
        <p:spPr>
          <a:xfrm>
            <a:off x="4831251" y="3107300"/>
            <a:ext cx="1965900" cy="1371600"/>
          </a:xfrm>
          <a:prstGeom prst="rect">
            <a:avLst/>
          </a:prstGeom>
          <a:solidFill>
            <a:srgbClr val="1877C4"/>
          </a:solidFill>
          <a:ln cap="flat" cmpd="sng" w="12700">
            <a:solidFill>
              <a:srgbClr val="187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e10adc12ce_0_6"/>
          <p:cNvSpPr/>
          <p:nvPr/>
        </p:nvSpPr>
        <p:spPr>
          <a:xfrm>
            <a:off x="4831251" y="3153020"/>
            <a:ext cx="196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b="1"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PCE Price Index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e10adc12ce_0_6"/>
          <p:cNvSpPr/>
          <p:nvPr/>
        </p:nvSpPr>
        <p:spPr>
          <a:xfrm>
            <a:off x="6952659" y="3107300"/>
            <a:ext cx="1965900" cy="1371600"/>
          </a:xfrm>
          <a:prstGeom prst="rect">
            <a:avLst/>
          </a:prstGeom>
          <a:solidFill>
            <a:srgbClr val="4F8EF7"/>
          </a:solidFill>
          <a:ln cap="flat" cmpd="sng" w="12700">
            <a:solidFill>
              <a:srgbClr val="4F8E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e10adc12ce_0_6"/>
          <p:cNvSpPr/>
          <p:nvPr/>
        </p:nvSpPr>
        <p:spPr>
          <a:xfrm>
            <a:off x="6952659" y="3161480"/>
            <a:ext cx="196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b="1"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UMich Consumer Sentiment Survey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e10adc12ce_0_6"/>
          <p:cNvSpPr/>
          <p:nvPr/>
        </p:nvSpPr>
        <p:spPr>
          <a:xfrm>
            <a:off x="4831260" y="2101400"/>
            <a:ext cx="1965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0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Char char="-"/>
            </a:pPr>
            <a:r>
              <a:rPr lang="en-US" sz="1000">
                <a:solidFill>
                  <a:srgbClr val="CADCFC"/>
                </a:solidFill>
                <a:latin typeface="Lato"/>
                <a:ea typeface="Lato"/>
                <a:cs typeface="Lato"/>
                <a:sym typeface="Lato"/>
              </a:rPr>
              <a:t>Binary Variable 1=Recession, 0=No Recession</a:t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Char char="-"/>
            </a:pPr>
            <a:r>
              <a:rPr lang="en-US" sz="1000">
                <a:solidFill>
                  <a:srgbClr val="CADCFC"/>
                </a:solidFill>
                <a:latin typeface="Lato"/>
                <a:ea typeface="Lato"/>
                <a:cs typeface="Lato"/>
                <a:sym typeface="Lato"/>
              </a:rPr>
              <a:t>NBER, FRED (USREC)</a:t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None/>
            </a:pPr>
            <a:r>
              <a:t/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" name="Google Shape;44;g3e10adc12ce_0_6"/>
          <p:cNvSpPr/>
          <p:nvPr/>
        </p:nvSpPr>
        <p:spPr>
          <a:xfrm>
            <a:off x="6964860" y="2101400"/>
            <a:ext cx="1965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0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Char char="-"/>
            </a:pPr>
            <a:r>
              <a:rPr lang="en-US" sz="1000">
                <a:solidFill>
                  <a:srgbClr val="CADCFC"/>
                </a:solidFill>
                <a:latin typeface="Lato"/>
                <a:ea typeface="Lato"/>
                <a:cs typeface="Lato"/>
                <a:sym typeface="Lato"/>
              </a:rPr>
              <a:t>Continuous Variable, Unemployed Relative to Labor Force</a:t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Char char="-"/>
            </a:pPr>
            <a:r>
              <a:rPr lang="en-US" sz="1000">
                <a:solidFill>
                  <a:srgbClr val="CADCFC"/>
                </a:solidFill>
                <a:latin typeface="Lato"/>
                <a:ea typeface="Lato"/>
                <a:cs typeface="Lato"/>
                <a:sym typeface="Lato"/>
              </a:rPr>
              <a:t>BLS, FRED (UNRATE)</a:t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None/>
            </a:pPr>
            <a:r>
              <a:t/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" name="Google Shape;45;g3e10adc12ce_0_6"/>
          <p:cNvSpPr/>
          <p:nvPr/>
        </p:nvSpPr>
        <p:spPr>
          <a:xfrm>
            <a:off x="4830256" y="3640700"/>
            <a:ext cx="1965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0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Char char="-"/>
            </a:pPr>
            <a:r>
              <a:rPr lang="en-US" sz="1000">
                <a:solidFill>
                  <a:srgbClr val="CADCFC"/>
                </a:solidFill>
                <a:latin typeface="Lato"/>
                <a:ea typeface="Lato"/>
                <a:cs typeface="Lato"/>
                <a:sym typeface="Lato"/>
              </a:rPr>
              <a:t>Continuous Variable, % change = inflation</a:t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Char char="-"/>
            </a:pPr>
            <a:r>
              <a:rPr lang="en-US" sz="1000">
                <a:solidFill>
                  <a:srgbClr val="CADCFC"/>
                </a:solidFill>
                <a:latin typeface="Lato"/>
                <a:ea typeface="Lato"/>
                <a:cs typeface="Lato"/>
                <a:sym typeface="Lato"/>
              </a:rPr>
              <a:t>BEA, FRED (PCEPI)</a:t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None/>
            </a:pPr>
            <a:r>
              <a:t/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" name="Google Shape;46;g3e10adc12ce_0_6"/>
          <p:cNvSpPr/>
          <p:nvPr/>
        </p:nvSpPr>
        <p:spPr>
          <a:xfrm>
            <a:off x="6955396" y="3716900"/>
            <a:ext cx="1965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0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Char char="-"/>
            </a:pPr>
            <a:r>
              <a:rPr lang="en-US" sz="1000">
                <a:solidFill>
                  <a:srgbClr val="CADCFC"/>
                </a:solidFill>
                <a:latin typeface="Lato"/>
                <a:ea typeface="Lato"/>
                <a:cs typeface="Lato"/>
                <a:sym typeface="Lato"/>
              </a:rPr>
              <a:t>Continuous Variable, Index of Consumer Sentiment</a:t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Char char="-"/>
            </a:pPr>
            <a:r>
              <a:rPr lang="en-US" sz="1000">
                <a:solidFill>
                  <a:srgbClr val="CADCFC"/>
                </a:solidFill>
                <a:latin typeface="Lato"/>
                <a:ea typeface="Lato"/>
                <a:cs typeface="Lato"/>
                <a:sym typeface="Lato"/>
              </a:rPr>
              <a:t>University of Michigan, FRED (UMCSENT)</a:t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Lato"/>
              <a:buNone/>
            </a:pPr>
            <a:r>
              <a:t/>
            </a:r>
            <a:endParaRPr sz="1000">
              <a:solidFill>
                <a:srgbClr val="CADC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" name="Google Shape;47;g3e10adc12ce_0_6"/>
          <p:cNvSpPr/>
          <p:nvPr/>
        </p:nvSpPr>
        <p:spPr>
          <a:xfrm>
            <a:off x="178424" y="1801175"/>
            <a:ext cx="2021700" cy="1847100"/>
          </a:xfrm>
          <a:prstGeom prst="rect">
            <a:avLst/>
          </a:prstGeom>
          <a:solidFill>
            <a:srgbClr val="1877C4"/>
          </a:solidFill>
          <a:ln cap="flat" cmpd="sng" w="17100">
            <a:solidFill>
              <a:srgbClr val="187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125" lIns="123125" spcFirstLastPara="1" rIns="123125" wrap="square" tIns="12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e10adc12ce_0_6"/>
          <p:cNvSpPr/>
          <p:nvPr/>
        </p:nvSpPr>
        <p:spPr>
          <a:xfrm>
            <a:off x="178425" y="1801175"/>
            <a:ext cx="2021700" cy="18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550" lIns="123125" spcFirstLastPara="1" rIns="123125" wrap="square" tIns="61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5"/>
              <a:buFont typeface="Lato"/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Play Share by Genre</a:t>
            </a:r>
            <a:endParaRPr b="1" sz="2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" name="Google Shape;49;g3e10adc12ce_0_6"/>
          <p:cNvSpPr/>
          <p:nvPr/>
        </p:nvSpPr>
        <p:spPr>
          <a:xfrm>
            <a:off x="2385503" y="1801175"/>
            <a:ext cx="2021700" cy="1847100"/>
          </a:xfrm>
          <a:prstGeom prst="rect">
            <a:avLst/>
          </a:prstGeom>
          <a:solidFill>
            <a:srgbClr val="A8C4F0"/>
          </a:solidFill>
          <a:ln cap="flat" cmpd="sng" w="17100">
            <a:solidFill>
              <a:srgbClr val="A8C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125" lIns="123125" spcFirstLastPara="1" rIns="123125" wrap="square" tIns="12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e10adc12ce_0_6"/>
          <p:cNvSpPr/>
          <p:nvPr/>
        </p:nvSpPr>
        <p:spPr>
          <a:xfrm>
            <a:off x="2385650" y="1801175"/>
            <a:ext cx="2021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550" lIns="123125" spcFirstLastPara="1" rIns="123125" wrap="square" tIns="61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5"/>
              <a:buFont typeface="Lato"/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Total Plays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e10adc12ce_0_6"/>
          <p:cNvSpPr/>
          <p:nvPr/>
        </p:nvSpPr>
        <p:spPr>
          <a:xfrm rot="5400000">
            <a:off x="2129271" y="2579900"/>
            <a:ext cx="406200" cy="2990400"/>
          </a:xfrm>
          <a:prstGeom prst="rightBrace">
            <a:avLst>
              <a:gd fmla="val 47900" name="adj1"/>
              <a:gd fmla="val 50073" name="adj2"/>
            </a:avLst>
          </a:prstGeom>
          <a:noFill/>
          <a:ln cap="flat" cmpd="sng" w="381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e10adc12ce_0_6"/>
          <p:cNvSpPr/>
          <p:nvPr/>
        </p:nvSpPr>
        <p:spPr>
          <a:xfrm>
            <a:off x="1185182" y="4169900"/>
            <a:ext cx="22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500">
                <a:solidFill>
                  <a:srgbClr val="1E2761"/>
                </a:solidFill>
                <a:latin typeface="Merriweather"/>
                <a:ea typeface="Merriweather"/>
                <a:cs typeface="Merriweather"/>
                <a:sym typeface="Merriweather"/>
              </a:rPr>
              <a:t>Last.FM API</a:t>
            </a:r>
            <a:endParaRPr b="0" i="0" sz="25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Last.FM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413025" y="2202150"/>
            <a:ext cx="5558100" cy="11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Lato"/>
              <a:buNone/>
            </a:pPr>
            <a:r>
              <a:rPr b="1" lang="en-US" sz="21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Music application that pairs with streaming services to track personal listening patterns and recommend new music while also acting as a library for listening data. </a:t>
            </a:r>
            <a:endParaRPr b="1" sz="21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Lato"/>
              <a:buNone/>
            </a:pPr>
            <a:r>
              <a:t/>
            </a:r>
            <a:endParaRPr i="1" sz="21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" name="Google Shape;6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75" y="1277425"/>
            <a:ext cx="2588649" cy="258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10adc12ce_0_4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e10adc12ce_0_48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API Documentation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g3e10adc12ce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400" y="1034350"/>
            <a:ext cx="1676825" cy="3091450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g3e10adc12ce_0_48"/>
          <p:cNvSpPr/>
          <p:nvPr/>
        </p:nvSpPr>
        <p:spPr>
          <a:xfrm>
            <a:off x="358425" y="1167313"/>
            <a:ext cx="26859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200" lIns="146450" spcFirstLastPara="1" rIns="146450" wrap="square" tIns="73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83"/>
              <a:buFont typeface="Lato"/>
              <a:buNone/>
            </a:pPr>
            <a:r>
              <a:rPr b="1" lang="en-US" sz="1943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Confusing encoding…</a:t>
            </a:r>
            <a:endParaRPr b="1" sz="1943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" name="Google Shape;71;g3e10adc12ce_0_48"/>
          <p:cNvSpPr/>
          <p:nvPr/>
        </p:nvSpPr>
        <p:spPr>
          <a:xfrm>
            <a:off x="358425" y="1903135"/>
            <a:ext cx="2685900" cy="13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146450" spcFirstLastPara="1" rIns="146450" wrap="square" tIns="73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62"/>
              <a:buFont typeface="Lato"/>
              <a:buNone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Remedied by consulting their forum and attending office hours</a:t>
            </a:r>
            <a:endParaRPr b="0" i="0" sz="16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e10adc12ce_0_48"/>
          <p:cNvSpPr/>
          <p:nvPr/>
        </p:nvSpPr>
        <p:spPr>
          <a:xfrm>
            <a:off x="358425" y="2901538"/>
            <a:ext cx="26859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200" lIns="146450" spcFirstLastPara="1" rIns="146450" wrap="square" tIns="73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83"/>
              <a:buFont typeface="Lato"/>
              <a:buNone/>
            </a:pPr>
            <a:r>
              <a:rPr b="1" lang="en-US" sz="1943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… then s</a:t>
            </a:r>
            <a:r>
              <a:rPr b="1" lang="en-US" sz="1943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traightforward</a:t>
            </a:r>
            <a:endParaRPr b="1" sz="1943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" name="Google Shape;73;g3e10adc12ce_0_48"/>
          <p:cNvSpPr/>
          <p:nvPr/>
        </p:nvSpPr>
        <p:spPr>
          <a:xfrm>
            <a:off x="358425" y="3637360"/>
            <a:ext cx="2685900" cy="13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146450" spcFirstLastPara="1" rIns="146450" wrap="square" tIns="73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62"/>
              <a:buFont typeface="Lato"/>
              <a:buNone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Each function had a description and an endpoint</a:t>
            </a:r>
            <a:endParaRPr b="0" i="0" sz="16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g3e10adc12ce_0_48"/>
          <p:cNvPicPr preferRelativeResize="0"/>
          <p:nvPr/>
        </p:nvPicPr>
        <p:blipFill rotWithShape="1">
          <a:blip r:embed="rId4">
            <a:alphaModFix/>
          </a:blip>
          <a:srcRect b="4705" l="3826" r="13543" t="4104"/>
          <a:stretch/>
        </p:blipFill>
        <p:spPr>
          <a:xfrm>
            <a:off x="3793900" y="1034350"/>
            <a:ext cx="1676825" cy="2423095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" name="Google Shape;75;g3e10adc12ce_0_48"/>
          <p:cNvPicPr preferRelativeResize="0"/>
          <p:nvPr/>
        </p:nvPicPr>
        <p:blipFill rotWithShape="1">
          <a:blip r:embed="rId5">
            <a:alphaModFix/>
          </a:blip>
          <a:srcRect b="0" l="9014" r="3810" t="0"/>
          <a:stretch/>
        </p:blipFill>
        <p:spPr>
          <a:xfrm>
            <a:off x="5470725" y="1034350"/>
            <a:ext cx="1843900" cy="2769525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10adc12ce_0_7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10adc12ce_0_75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API Data Collection</a:t>
            </a:r>
            <a:endParaRPr b="1" sz="28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3" name="Google Shape;83;g3e10adc12ce_0_75"/>
          <p:cNvSpPr/>
          <p:nvPr/>
        </p:nvSpPr>
        <p:spPr>
          <a:xfrm>
            <a:off x="481525" y="2265113"/>
            <a:ext cx="2161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575" lIns="111200" spcFirstLastPara="1" rIns="111200" wrap="square" tIns="55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81"/>
              <a:buFont typeface="Lato"/>
              <a:buNone/>
            </a:pPr>
            <a:r>
              <a:rPr b="1" lang="en-US" sz="1403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tag.getWeeklyChartList</a:t>
            </a:r>
            <a:endParaRPr b="1" sz="1403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4" name="Google Shape;84;g3e10adc12ce_0_75"/>
          <p:cNvCxnSpPr>
            <a:stCxn id="83" idx="3"/>
            <a:endCxn id="85" idx="1"/>
          </p:cNvCxnSpPr>
          <p:nvPr/>
        </p:nvCxnSpPr>
        <p:spPr>
          <a:xfrm>
            <a:off x="2643025" y="2486663"/>
            <a:ext cx="73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g3e10adc12ce_0_75"/>
          <p:cNvSpPr/>
          <p:nvPr/>
        </p:nvSpPr>
        <p:spPr>
          <a:xfrm>
            <a:off x="3378975" y="2265113"/>
            <a:ext cx="2385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575" lIns="111200" spcFirstLastPara="1" rIns="111200" wrap="square" tIns="55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81"/>
              <a:buFont typeface="Lato"/>
              <a:buNone/>
            </a:pPr>
            <a:r>
              <a:rPr b="1" lang="en-US" sz="1403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user.getWeeklyArtistChart</a:t>
            </a:r>
            <a:endParaRPr b="1" sz="1403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6" name="Google Shape;86;g3e10adc12ce_0_75"/>
          <p:cNvCxnSpPr>
            <a:stCxn id="85" idx="3"/>
            <a:endCxn id="87" idx="1"/>
          </p:cNvCxnSpPr>
          <p:nvPr/>
        </p:nvCxnSpPr>
        <p:spPr>
          <a:xfrm>
            <a:off x="5764575" y="2486663"/>
            <a:ext cx="91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g3e10adc12ce_0_75"/>
          <p:cNvSpPr/>
          <p:nvPr/>
        </p:nvSpPr>
        <p:spPr>
          <a:xfrm>
            <a:off x="6682475" y="2265113"/>
            <a:ext cx="1857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575" lIns="111200" spcFirstLastPara="1" rIns="111200" wrap="square" tIns="55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81"/>
              <a:buFont typeface="Lato"/>
              <a:buNone/>
            </a:pPr>
            <a:r>
              <a:rPr b="1" lang="en-US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artist.getTopTags</a:t>
            </a:r>
            <a:endParaRPr b="1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g3e10adc12ce_0_75"/>
          <p:cNvSpPr/>
          <p:nvPr/>
        </p:nvSpPr>
        <p:spPr>
          <a:xfrm>
            <a:off x="511075" y="2814688"/>
            <a:ext cx="21024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146450" spcFirstLastPara="1" rIns="146450" wrap="square" tIns="73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62"/>
              <a:buFont typeface="Lato"/>
              <a:buNone/>
            </a:pPr>
            <a:r>
              <a:rPr lang="en-US" sz="15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Collected week data (How many weeks am I looking at?)</a:t>
            </a:r>
            <a:endParaRPr b="0" i="0" sz="15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e10adc12ce_0_75"/>
          <p:cNvSpPr/>
          <p:nvPr/>
        </p:nvSpPr>
        <p:spPr>
          <a:xfrm>
            <a:off x="3520575" y="2814688"/>
            <a:ext cx="21024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146450" spcFirstLastPara="1" rIns="146450" wrap="square" tIns="73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62"/>
              <a:buFont typeface="Lato"/>
              <a:buNone/>
            </a:pPr>
            <a:r>
              <a:rPr lang="en-US" sz="15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Collected artist names for every given week. </a:t>
            </a:r>
            <a:endParaRPr b="0" i="0" sz="15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e10adc12ce_0_75"/>
          <p:cNvSpPr/>
          <p:nvPr/>
        </p:nvSpPr>
        <p:spPr>
          <a:xfrm>
            <a:off x="6560068" y="2814688"/>
            <a:ext cx="21024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146450" spcFirstLastPara="1" rIns="146450" wrap="square" tIns="73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62"/>
              <a:buFont typeface="Lato"/>
              <a:buNone/>
            </a:pPr>
            <a:r>
              <a:rPr lang="en-US" sz="15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Got the top tags for each artist</a:t>
            </a:r>
            <a:endParaRPr b="0" i="0" sz="15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New Variables Created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257290" y="3804873"/>
            <a:ext cx="6629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Measures all plays across all artists in a given week of collection</a:t>
            </a:r>
            <a:endParaRPr sz="18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Lato"/>
              <a:buNone/>
            </a:pPr>
            <a:r>
              <a:t/>
            </a:r>
            <a:endParaRPr sz="1100">
              <a:solidFill>
                <a:srgbClr val="37415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749098" y="1448390"/>
            <a:ext cx="1645800" cy="640200"/>
          </a:xfrm>
          <a:prstGeom prst="rect">
            <a:avLst/>
          </a:prstGeom>
          <a:solidFill>
            <a:srgbClr val="1877C4"/>
          </a:solidFill>
          <a:ln cap="flat" cmpd="sng" w="12700">
            <a:solidFill>
              <a:srgbClr val="187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55"/>
              <a:buFont typeface="Lato"/>
              <a:buNone/>
            </a:pPr>
            <a:r>
              <a:rPr b="1"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Play Share by Genre</a:t>
            </a:r>
            <a:endParaRPr b="1"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257290" y="2204673"/>
            <a:ext cx="6629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% of total listening shares per week, expressed as decimal</a:t>
            </a:r>
            <a:endParaRPr sz="1847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749098" y="3124790"/>
            <a:ext cx="1645800" cy="640200"/>
          </a:xfrm>
          <a:prstGeom prst="rect">
            <a:avLst/>
          </a:prstGeom>
          <a:solidFill>
            <a:srgbClr val="A8C4F0"/>
          </a:solidFill>
          <a:ln cap="flat" cmpd="sng" w="12700">
            <a:solidFill>
              <a:srgbClr val="A8C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Total Plays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0adc12ce_0_1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10adc12ce_0_110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g3e10adc12ce_0_110" title="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00" y="1617075"/>
            <a:ext cx="3578527" cy="2552824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" name="Google Shape;110;g3e10adc12ce_0_110" title="SpaghettiGrap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367" y="1654138"/>
            <a:ext cx="5211873" cy="2478701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g3e10adc12ce_0_110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Average Listening Shares by Genre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10adc12ce_0_12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e10adc12ce_0_126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10adc12ce_0_126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Filtered Graphs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3e10adc12ce_0_126" title="2Graph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50" y="1227525"/>
            <a:ext cx="4919373" cy="3543002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g3e10adc12ce_0_126" title="MeanMonthlyList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6498" y="1932625"/>
            <a:ext cx="3818179" cy="2132811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10adc12ce_0_15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10adc12ce_0_159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10adc12ce_0_159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10adc12ce_0_159"/>
          <p:cNvSpPr txBox="1"/>
          <p:nvPr/>
        </p:nvSpPr>
        <p:spPr>
          <a:xfrm>
            <a:off x="299875" y="1694750"/>
            <a:ext cx="82227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Total Month Plays</a:t>
            </a:r>
            <a:r>
              <a:rPr b="1" lang="en-US" sz="18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1" sz="18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Total.Month.Plays=β0​+β1​(REC)+β2​(UNRATE)+β3​ln(PCE)+β4​ln(UMICH)+ε</a:t>
            </a:r>
            <a:endParaRPr sz="16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Logged</a:t>
            </a:r>
            <a:r>
              <a:rPr b="1" lang="en-US" sz="1800" u="sng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 Total Month Plays</a:t>
            </a:r>
            <a:r>
              <a:rPr b="1" lang="en-US" sz="18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8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ln(Total.Month.Plays)=β0​+β1​(REC)+β2​(UNRATE)+β3​ln(PCE)+β4​ln(UMICH)+ε</a:t>
            </a:r>
            <a:endParaRPr sz="16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Logged Genre Play Share</a:t>
            </a:r>
            <a:r>
              <a:rPr b="1" lang="en-US" sz="18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1" sz="18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ln(Play.Share</a:t>
            </a:r>
            <a:r>
              <a:rPr baseline="-25000" lang="en-US" sz="16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6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​)=β0​+β1​(REC)+β2​(UNRATE)+β3​ln(Total.Plays)+β4​ln(PCE)+β5​ln(UMICH)</a:t>
            </a:r>
            <a:r>
              <a:rPr lang="en-US" sz="1600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+ε</a:t>
            </a:r>
            <a:endParaRPr sz="16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*i is an individual genre</a:t>
            </a:r>
            <a:endParaRPr i="1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10adc12ce_0_13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10adc12ce_0_139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10adc12ce_0_139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Total Plays Regression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g3e10adc12ce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925" y="973750"/>
            <a:ext cx="2837791" cy="3924300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" name="Google Shape;140;g3e10adc12ce_0_139"/>
          <p:cNvSpPr/>
          <p:nvPr/>
        </p:nvSpPr>
        <p:spPr>
          <a:xfrm>
            <a:off x="4572000" y="914388"/>
            <a:ext cx="26859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200" lIns="146450" spcFirstLastPara="1" rIns="146450" wrap="square" tIns="7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83"/>
              <a:buFont typeface="Lato"/>
              <a:buNone/>
            </a:pPr>
            <a:r>
              <a:rPr b="1" lang="en-US" sz="1943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Findings</a:t>
            </a:r>
            <a:endParaRPr b="1" sz="1943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g3e10adc12ce_0_139"/>
          <p:cNvSpPr/>
          <p:nvPr/>
        </p:nvSpPr>
        <p:spPr>
          <a:xfrm>
            <a:off x="4572000" y="1497900"/>
            <a:ext cx="4458300" cy="13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146450" spcFirstLastPara="1" rIns="146450" wrap="square" tIns="73200">
            <a:noAutofit/>
          </a:bodyPr>
          <a:lstStyle/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2"/>
              <a:buFont typeface="Calibri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Recessions </a:t>
            </a:r>
            <a:r>
              <a:rPr b="1" lang="en-US" sz="1622" u="sng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do</a:t>
            </a: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cause a decrease in listening (nearly 60%)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Unemployment has little impact in play change, larger in % change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Inflation has a very dramatic effect on listening habits 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UMich Survey is only significant when it is logged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erriweather"/>
              <a:buNone/>
            </a:pPr>
            <a:r>
              <a:rPr b="1" lang="en-US" sz="22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Genre Regressions: Top 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75" y="719775"/>
            <a:ext cx="5389473" cy="4152899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5"/>
          <p:cNvSpPr/>
          <p:nvPr/>
        </p:nvSpPr>
        <p:spPr>
          <a:xfrm>
            <a:off x="5303400" y="1405025"/>
            <a:ext cx="3840600" cy="13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146450" spcFirstLastPara="1" rIns="146450" wrap="square" tIns="73200">
            <a:noAutofit/>
          </a:bodyPr>
          <a:lstStyle/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2"/>
              <a:buFont typeface="Calibri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Metal and Hip Hop experience </a:t>
            </a:r>
            <a:r>
              <a:rPr b="1" lang="en-US" sz="1622" u="sng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increases</a:t>
            </a:r>
            <a:r>
              <a:rPr b="1"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 play share during recessions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1 PP increase in Unemployment decreases Rock and Metal, increases Jazz and Hip Hop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As total plays increase, genres get more diverse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Inflation again is very dramatic, except for Hip Hop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UMich decreases all except for Hip Hop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10adc12ce_0_17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10adc12ce_0_175"/>
          <p:cNvSpPr/>
          <p:nvPr/>
        </p:nvSpPr>
        <p:spPr>
          <a:xfrm>
            <a:off x="365760" y="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erriweather"/>
              <a:buNone/>
            </a:pPr>
            <a:r>
              <a:rPr b="1" lang="en-US" sz="22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Genre Regressions: Special Cases</a:t>
            </a:r>
            <a:endParaRPr b="1" sz="22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8" name="Google Shape;158;g3e10adc12ce_0_175"/>
          <p:cNvSpPr/>
          <p:nvPr/>
        </p:nvSpPr>
        <p:spPr>
          <a:xfrm>
            <a:off x="5303400" y="1405025"/>
            <a:ext cx="3840600" cy="13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146450" spcFirstLastPara="1" rIns="146450" wrap="square" tIns="73200">
            <a:noAutofit/>
          </a:bodyPr>
          <a:lstStyle/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Recession Pop does </a:t>
            </a:r>
            <a:r>
              <a:rPr b="1" lang="en-US" sz="1622" u="sng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not</a:t>
            </a: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exist for these models, Recession Classical does, however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Unemployment Rate does not change shares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Plays follows the same trend as other genres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Inflation increases playshare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161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22"/>
              <a:buFont typeface="Lato"/>
              <a:buChar char="-"/>
            </a:pPr>
            <a:r>
              <a:rPr lang="en-US" sz="1622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More pop when sentiment increases, possibly more classical</a:t>
            </a:r>
            <a:endParaRPr sz="1622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9" name="Google Shape;159;g3e10adc12ce_0_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750" y="829750"/>
            <a:ext cx="3262993" cy="4152900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10adc12ce_0_18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10adc12ce_0_188"/>
          <p:cNvSpPr/>
          <p:nvPr/>
        </p:nvSpPr>
        <p:spPr>
          <a:xfrm>
            <a:off x="365760" y="0"/>
            <a:ext cx="841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erriweather"/>
              <a:buNone/>
            </a:pPr>
            <a:r>
              <a:rPr b="1" lang="en-US" sz="2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Improvements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10adc12ce_0_188"/>
          <p:cNvSpPr/>
          <p:nvPr/>
        </p:nvSpPr>
        <p:spPr>
          <a:xfrm>
            <a:off x="1584900" y="1291050"/>
            <a:ext cx="5974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5860" lvl="0" marL="45720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47"/>
              <a:buFont typeface="Lato"/>
              <a:buChar char="-"/>
            </a:pPr>
            <a:r>
              <a:rPr b="1" lang="en-US" sz="18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Use actual global data not one person</a:t>
            </a:r>
            <a:endParaRPr b="1" sz="1847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5860" lvl="0" marL="45720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47"/>
              <a:buFont typeface="Lato"/>
              <a:buChar char="-"/>
            </a:pPr>
            <a:r>
              <a:rPr b="1" lang="en-US" sz="18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Take into account song content </a:t>
            </a:r>
            <a:endParaRPr b="1" sz="1847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9510" lvl="1" marL="91440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47"/>
              <a:buFont typeface="Lato"/>
              <a:buChar char="-"/>
            </a:pPr>
            <a:r>
              <a:rPr lang="en-US" sz="17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Control for mood </a:t>
            </a:r>
            <a:r>
              <a:rPr lang="en-US" sz="17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(happy vs sad rock)</a:t>
            </a:r>
            <a:endParaRPr sz="1747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9510" lvl="1" marL="91440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47"/>
              <a:buFont typeface="Lato"/>
              <a:buChar char="-"/>
            </a:pPr>
            <a:r>
              <a:rPr lang="en-US" sz="17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Control for keywords </a:t>
            </a:r>
            <a:endParaRPr sz="1747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5860" lvl="0" marL="45720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47"/>
              <a:buFont typeface="Lato"/>
              <a:buChar char="-"/>
            </a:pPr>
            <a:r>
              <a:rPr b="1" lang="en-US" sz="18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Find different method to get genres</a:t>
            </a:r>
            <a:endParaRPr b="1" sz="1847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9510" lvl="1" marL="91440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47"/>
              <a:buFont typeface="Lato"/>
              <a:buChar char="-"/>
            </a:pPr>
            <a:r>
              <a:rPr lang="en-US" sz="17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User generated tags, not homogenous</a:t>
            </a:r>
            <a:endParaRPr sz="1747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5860" lvl="0" marL="45720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47"/>
              <a:buFont typeface="Lato"/>
              <a:buChar char="-"/>
            </a:pPr>
            <a:r>
              <a:rPr b="1" lang="en-US" sz="18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Use Fixed Effects to control for more popular genres</a:t>
            </a:r>
            <a:endParaRPr b="1" sz="1847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9510" lvl="1" marL="91440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47"/>
              <a:buFont typeface="Lato"/>
              <a:buChar char="-"/>
            </a:pPr>
            <a:r>
              <a:rPr lang="en-US" sz="1747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‘Classic Rock’ is going to have a different listen count than PBR&amp;B or Shoegaze, larger more macro genre</a:t>
            </a:r>
            <a:endParaRPr sz="1747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10adc12ce_0_20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g3e10adc12ce_0_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00" y="1098262"/>
            <a:ext cx="3835899" cy="3843725"/>
          </a:xfrm>
          <a:prstGeom prst="rect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g3e10adc12ce_0_204"/>
          <p:cNvSpPr/>
          <p:nvPr/>
        </p:nvSpPr>
        <p:spPr>
          <a:xfrm>
            <a:off x="5214300" y="2197810"/>
            <a:ext cx="3367500" cy="16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200" lIns="146450" spcFirstLastPara="1" rIns="146450" wrap="square" tIns="73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83"/>
              <a:buFont typeface="Lato"/>
              <a:buNone/>
            </a:pPr>
            <a:r>
              <a:rPr b="1" lang="en-US" sz="4543">
                <a:solidFill>
                  <a:srgbClr val="1E2761"/>
                </a:solidFill>
                <a:latin typeface="Lato"/>
                <a:ea typeface="Lato"/>
                <a:cs typeface="Lato"/>
                <a:sym typeface="Lato"/>
              </a:rPr>
              <a:t>Thank you!</a:t>
            </a:r>
            <a:endParaRPr b="1" sz="4543">
              <a:solidFill>
                <a:srgbClr val="1E276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2026-05-12T03:58:16Z</dcterms:created>
  <dc:creator>PptxGenJS</dc:creator>
</cp:coreProperties>
</file>